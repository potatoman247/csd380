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2" y="2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2AD2-A835-040C-2C5D-3F2C6E0FF6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250732-A73F-B926-5DAE-B518D7C6F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DAD8F-BF67-B1E2-1690-B6283C42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98FE-0E6F-4F1B-B4AF-1FE63FA0159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48BDB-476A-AF39-E118-61CE3891B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E96E2-42DA-213A-BC8E-71ED51924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747D-3D98-4921-AC99-8BAF5C76B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5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C6EC7-531B-35E2-9BAA-1297B8CED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F4120-262F-2D07-5804-16F854AA4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A9255-0637-32B4-312A-A2EFB1E9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98FE-0E6F-4F1B-B4AF-1FE63FA0159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EF4A8-C8A1-77C2-84A5-227E6D16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1576D-2D54-4617-516E-7339E4902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747D-3D98-4921-AC99-8BAF5C76B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84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C03A7-F045-7F93-0A5A-14B463B1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760A3-D650-53FD-A32E-AB33C7E16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1C3B0-830C-E393-CC0B-8675E1B08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98FE-0E6F-4F1B-B4AF-1FE63FA0159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5FF10-0F17-A060-1C22-674E147CF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30C2E-F367-D44A-D5D8-A62C1516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747D-3D98-4921-AC99-8BAF5C76B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64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C324-C30D-BA5C-3D2C-03F3BDAFC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3DB51-EF9C-8835-6F46-508BC3D74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84E60-337D-C873-07CF-7BCE225CE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D5D65-BA90-514F-DC73-64ADC800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98FE-0E6F-4F1B-B4AF-1FE63FA0159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66240-7C96-DFEC-2EA5-FD42CFDB3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E0AF1-D93B-2354-6D10-16FEB51B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747D-3D98-4921-AC99-8BAF5C76B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0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6006D-65E6-02FB-7C45-412ADA985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5CA6B-D6E3-FB11-E259-349C8407C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8A82A-F5C0-57CE-152D-B029AD2FB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677076-DF94-4BE6-5DAE-9A83CF48E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D21C73-1774-6CB3-82CD-E5A9A67711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D261D2-1BE7-E571-2070-CB9343695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98FE-0E6F-4F1B-B4AF-1FE63FA0159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C098EE-649F-F312-C196-1AD44A63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8111E-C258-C2F8-2E69-323F86C7B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747D-3D98-4921-AC99-8BAF5C76B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460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0E57-FD62-BCBA-F091-816E0B1A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4AB15D-34D4-6539-FE39-00DBAC7C6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98FE-0E6F-4F1B-B4AF-1FE63FA0159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7019BF-0A37-7486-3702-2FFEBF18E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DE349-7D37-03A2-9545-7582EF8E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747D-3D98-4921-AC99-8BAF5C76B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2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56A2A1-3871-2293-48F6-D9BAFE432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98FE-0E6F-4F1B-B4AF-1FE63FA0159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3624A8-1BCD-3E32-F740-EE67F33C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742DE-EB48-352A-A5DA-86100593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747D-3D98-4921-AC99-8BAF5C76B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2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7BF01-D83D-6BE9-867F-8FC56F19B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1397E-369D-BE85-ECDB-3F53595F4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761F1-4662-EC8B-E22A-B32B42D7F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8FE39-2073-4600-3317-80CD522F0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98FE-0E6F-4F1B-B4AF-1FE63FA0159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A8252-3D2C-059D-18E1-89E06D789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D5829-B430-49DA-A8F6-8F1911EA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747D-3D98-4921-AC99-8BAF5C76B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216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B1F3F-DC9B-7BF0-014F-1147BCE6A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3199F1-F3C3-C80A-1D28-55A2A7894B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14CA3-831A-DF52-34F9-9A7187656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45BCB-3C64-A5BD-9A10-9747EB6D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98FE-0E6F-4F1B-B4AF-1FE63FA0159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43004-2F6B-0C50-1BEE-30A5AC427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5B6FA-E7F5-F10D-552D-3FE254240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747D-3D98-4921-AC99-8BAF5C76B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69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B2DD-2231-BE95-8372-BB5CAA3CD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D6E52-CF0C-CAD0-33B6-4E6C0882E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5FF2-CF0E-9B52-4023-7EC4041B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98FE-0E6F-4F1B-B4AF-1FE63FA0159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F1741-A77C-3453-7F97-04AC62764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AD540-A06E-A8FE-9AE4-3FBB5D13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747D-3D98-4921-AC99-8BAF5C76B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72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B3EB7A-3BE1-ECA7-0710-3E5A19BF2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BFB7F-FA39-D085-B4F4-F0948FC5C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9FB04-8743-EE64-D931-C806CBA5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98FE-0E6F-4F1B-B4AF-1FE63FA0159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A4A65-16FE-FC40-4342-5D5C7C03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1BB8F-6895-46BB-0698-26F8E28D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747D-3D98-4921-AC99-8BAF5C76B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9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FEECF6-DABA-5C5D-0A58-A2ED0486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B37FB-05AC-121F-C2E3-7C748052A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42997-66C8-9B35-995C-84BBAEE17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3398FE-0E6F-4F1B-B4AF-1FE63FA0159C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DD8DD-2461-8810-F740-E840F5A24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B5156-2991-8E5B-D53C-416F76DC9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C2747D-3D98-4921-AC99-8BAF5C76B9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97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7D8B9-41FB-B6E1-8991-B23FD76EE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The Technology Value Stream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89E541-8AFB-41DE-58CF-840AEC7D6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Aidan Jacoby – CSD380 – 6/7/26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59119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0B4C9C-037E-7B94-38D5-6D5F5F96C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Lead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6C63D-C23D-3DCE-AFC0-76CF17337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chemeClr val="bg1"/>
                </a:solidFill>
              </a:rPr>
              <a:t>The total time from ticket creation to task completion</a:t>
            </a:r>
            <a:br>
              <a:rPr lang="en-US" sz="2200">
                <a:solidFill>
                  <a:schemeClr val="bg1"/>
                </a:solidFill>
              </a:rPr>
            </a:br>
            <a:br>
              <a:rPr lang="en-US" sz="2200">
                <a:solidFill>
                  <a:schemeClr val="bg1"/>
                </a:solidFill>
              </a:rPr>
            </a:br>
            <a:endParaRPr lang="en-US" sz="2200">
              <a:solidFill>
                <a:schemeClr val="bg1"/>
              </a:solidFill>
            </a:endParaRPr>
          </a:p>
          <a:p>
            <a:r>
              <a:rPr lang="en-US" sz="2200">
                <a:solidFill>
                  <a:schemeClr val="bg1"/>
                </a:solidFill>
              </a:rPr>
              <a:t>Includes any queues, delays, errors, etc.</a:t>
            </a:r>
            <a:br>
              <a:rPr lang="en-US" sz="2200">
                <a:solidFill>
                  <a:schemeClr val="bg1"/>
                </a:solidFill>
              </a:rPr>
            </a:br>
            <a:br>
              <a:rPr lang="en-US" sz="2200">
                <a:solidFill>
                  <a:schemeClr val="bg1"/>
                </a:solidFill>
              </a:rPr>
            </a:br>
            <a:endParaRPr lang="en-US" sz="2200">
              <a:solidFill>
                <a:schemeClr val="bg1"/>
              </a:solidFill>
            </a:endParaRPr>
          </a:p>
          <a:p>
            <a:r>
              <a:rPr lang="en-US" sz="2200">
                <a:solidFill>
                  <a:schemeClr val="bg1"/>
                </a:solidFill>
              </a:rPr>
              <a:t>Ex: A customer submits a ticket on March 1, 2026.  The task is completed on October 1, 2026.  The Lead Time was seven months long.</a:t>
            </a:r>
          </a:p>
        </p:txBody>
      </p:sp>
    </p:spTree>
    <p:extLst>
      <p:ext uri="{BB962C8B-B14F-4D97-AF65-F5344CB8AC3E}">
        <p14:creationId xmlns:p14="http://schemas.microsoft.com/office/powerpoint/2010/main" val="3618980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032C6-866D-6474-B407-D70E94C90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Processing Time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B4167-B7CD-29F0-EC47-4D343A5AE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chemeClr val="bg1"/>
                </a:solidFill>
              </a:rPr>
              <a:t>The amount of time needed to complete the task</a:t>
            </a:r>
            <a:br>
              <a:rPr lang="en-US" sz="2200">
                <a:solidFill>
                  <a:schemeClr val="bg1"/>
                </a:solidFill>
              </a:rPr>
            </a:br>
            <a:br>
              <a:rPr lang="en-US" sz="2200">
                <a:solidFill>
                  <a:schemeClr val="bg1"/>
                </a:solidFill>
              </a:rPr>
            </a:br>
            <a:endParaRPr lang="en-US" sz="2200">
              <a:solidFill>
                <a:schemeClr val="bg1"/>
              </a:solidFill>
            </a:endParaRPr>
          </a:p>
          <a:p>
            <a:r>
              <a:rPr lang="en-US" sz="2200">
                <a:solidFill>
                  <a:schemeClr val="bg1"/>
                </a:solidFill>
              </a:rPr>
              <a:t>Excludes all queues or delays before task start</a:t>
            </a:r>
            <a:br>
              <a:rPr lang="en-US" sz="2200">
                <a:solidFill>
                  <a:schemeClr val="bg1"/>
                </a:solidFill>
              </a:rPr>
            </a:br>
            <a:br>
              <a:rPr lang="en-US" sz="2200">
                <a:solidFill>
                  <a:schemeClr val="bg1"/>
                </a:solidFill>
              </a:rPr>
            </a:br>
            <a:endParaRPr lang="en-US" sz="2200">
              <a:solidFill>
                <a:schemeClr val="bg1"/>
              </a:solidFill>
            </a:endParaRPr>
          </a:p>
          <a:p>
            <a:r>
              <a:rPr lang="en-US" sz="2200">
                <a:solidFill>
                  <a:schemeClr val="bg1"/>
                </a:solidFill>
              </a:rPr>
              <a:t>Ex: A customer submits a ticket on March 1, 2026.  The task begins work on August 1, 2026.  The task is completed on October 1, 2026.  The Processing Time was two months long.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904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63A53-824F-0127-C3D6-FAE8929EF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181" y="4313557"/>
            <a:ext cx="8338421" cy="183445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34CC3FF-7AA4-46F4-8B24-2F9383D8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75E42E8-8B96-4FF0-9DCC-7E2084C0F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8FEA8A4-ED0E-429C-884B-1599153B8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82740-D09A-4D7A-6955-D1E6A0109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The Common Scenario</a:t>
            </a:r>
          </a:p>
        </p:txBody>
      </p:sp>
      <p:grpSp>
        <p:nvGrpSpPr>
          <p:cNvPr id="18" name="Graphic 4">
            <a:extLst>
              <a:ext uri="{FF2B5EF4-FFF2-40B4-BE49-F238E27FC236}">
                <a16:creationId xmlns:a16="http://schemas.microsoft.com/office/drawing/2014/main" id="{5F2AA49C-5AC0-41C7-BFAF-74B8D8293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8A750A0-64B5-41B2-B525-A914EB40B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8216C77-85C1-4BDC-87A8-7E7593320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71AED48-754E-41AC-9ECC-DB2597644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8005417-D297-404F-82A5-8C4393E85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7F942D6-2D0C-4894-81F0-6F81714BA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FAD802E-9670-4B80-876B-3FF64D29A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38AF437-0BFB-40E4-ADA0-5749919AA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8BC9C3D-CBBE-4D29-9DAC-98B3CAF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7016629-22ED-494E-9205-594895DA9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FF3CC1E-0ED4-4599-9B4E-F057769B9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65A4B3A-F9A7-4FA6-A7F3-EA08E0BA1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83B6A14-A56D-4B95-8395-89CF53A09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9F0868B-B193-43B6-BB1E-1FF72993E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3" name="Graphic 4">
            <a:extLst>
              <a:ext uri="{FF2B5EF4-FFF2-40B4-BE49-F238E27FC236}">
                <a16:creationId xmlns:a16="http://schemas.microsoft.com/office/drawing/2014/main" id="{BB32367D-C4F2-49D5-A586-298C7CA8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1FF7EE7-ACA2-4BFF-BA75-7FAE93FBB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647462E-B5E8-4F02-A1E4-BD0380A22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12CE109-6153-414A-B2D6-C4F9C6FA2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AF530F5-D68D-4BC8-8984-F1A8B5DEB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EB69747-F9DD-4B80-B488-D5565D0BC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3AFB787-B8A4-4269-9DA9-FF4A66030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E682D93-25A6-4D91-9A81-3F247BBEE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D5F48B5-53B4-4DA8-B929-6AFF50658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A195A3-2A74-4D13-A1B8-24765E26B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98F1918-C39D-4713-AB21-685A94435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3592273-DEE6-42E1-B824-11D544332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2D6F82B-B619-4D8B-85AE-0E57103BA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246C574-90D4-412B-9444-203F7C83C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36AF5-7B6D-BE3C-CF42-AD7A24C4F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685805"/>
            <a:ext cx="4974771" cy="55340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Even simple tasks can take weeks, if not months to be pushed to production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Caused by unintegrated systems and highly bureaucratic organizations </a:t>
            </a:r>
          </a:p>
        </p:txBody>
      </p:sp>
    </p:spTree>
    <p:extLst>
      <p:ext uri="{BB962C8B-B14F-4D97-AF65-F5344CB8AC3E}">
        <p14:creationId xmlns:p14="http://schemas.microsoft.com/office/powerpoint/2010/main" val="3258790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F6FB2-5AB0-0544-4BA3-39232070E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The Common Scenario, cont.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5C98-3D1F-302A-04D9-F6F90F797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n-US" sz="2600">
                <a:solidFill>
                  <a:schemeClr val="bg1"/>
                </a:solidFill>
              </a:rPr>
              <a:t>Can cause significant issues during integration</a:t>
            </a:r>
            <a:br>
              <a:rPr lang="en-US" sz="2600">
                <a:solidFill>
                  <a:schemeClr val="bg1"/>
                </a:solidFill>
              </a:rPr>
            </a:br>
            <a:br>
              <a:rPr lang="en-US" sz="2600">
                <a:solidFill>
                  <a:schemeClr val="bg1"/>
                </a:solidFill>
              </a:rPr>
            </a:br>
            <a:endParaRPr lang="en-US" sz="2600">
              <a:solidFill>
                <a:schemeClr val="bg1"/>
              </a:solidFill>
            </a:endParaRPr>
          </a:p>
          <a:p>
            <a:r>
              <a:rPr lang="en-US" sz="2600">
                <a:solidFill>
                  <a:schemeClr val="bg1"/>
                </a:solidFill>
              </a:rPr>
              <a:t>Adds even more bloat time to resolve problems</a:t>
            </a:r>
            <a:br>
              <a:rPr lang="en-US" sz="2600">
                <a:solidFill>
                  <a:schemeClr val="bg1"/>
                </a:solidFill>
              </a:rPr>
            </a:br>
            <a:br>
              <a:rPr lang="en-US" sz="2600">
                <a:solidFill>
                  <a:schemeClr val="bg1"/>
                </a:solidFill>
              </a:rPr>
            </a:br>
            <a:endParaRPr lang="en-US" sz="2600">
              <a:solidFill>
                <a:schemeClr val="bg1"/>
              </a:solidFill>
            </a:endParaRPr>
          </a:p>
          <a:p>
            <a:r>
              <a:rPr lang="en-US" sz="2600">
                <a:solidFill>
                  <a:schemeClr val="bg1"/>
                </a:solidFill>
              </a:rPr>
              <a:t>Bugs that get pushed to production cannot be quickly handled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0317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4E8A0F-EA48-E4BC-78C5-F58FCD605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Our DevOps Ideal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A5B40-0824-1368-4603-02CD250FD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Quick, consistent feedback on work</a:t>
            </a:r>
            <a:br>
              <a:rPr lang="en-US">
                <a:solidFill>
                  <a:schemeClr val="bg1"/>
                </a:solidFill>
              </a:rPr>
            </a:b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How it is achieved:</a:t>
            </a:r>
          </a:p>
          <a:p>
            <a:pPr lvl="1"/>
            <a:r>
              <a:rPr lang="en-US">
                <a:solidFill>
                  <a:schemeClr val="bg1"/>
                </a:solidFill>
              </a:rPr>
              <a:t>Checking code snippets often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  <a:p>
            <a:pPr lvl="1"/>
            <a:r>
              <a:rPr lang="en-US">
                <a:solidFill>
                  <a:schemeClr val="bg1"/>
                </a:solidFill>
              </a:rPr>
              <a:t>Running fast, automated tests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  <a:p>
            <a:pPr lvl="1"/>
            <a:r>
              <a:rPr lang="en-US">
                <a:solidFill>
                  <a:schemeClr val="bg1"/>
                </a:solidFill>
              </a:rPr>
              <a:t>Performing deep dives when needed</a:t>
            </a:r>
          </a:p>
        </p:txBody>
      </p:sp>
    </p:spTree>
    <p:extLst>
      <p:ext uri="{BB962C8B-B14F-4D97-AF65-F5344CB8AC3E}">
        <p14:creationId xmlns:p14="http://schemas.microsoft.com/office/powerpoint/2010/main" val="1268672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0D33B2-7936-E25E-7348-0D767BDDB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6A457-1A1C-85FC-2035-A65ECCD3F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Kim, G., Humble, J., Debois, P., Willis, J., &amp; Forsgren, N. (2021). The DevOps Handbook. In The DevOps Handbook. Simon &amp; Schuster.</a:t>
            </a:r>
          </a:p>
        </p:txBody>
      </p:sp>
    </p:spTree>
    <p:extLst>
      <p:ext uri="{BB962C8B-B14F-4D97-AF65-F5344CB8AC3E}">
        <p14:creationId xmlns:p14="http://schemas.microsoft.com/office/powerpoint/2010/main" val="3946813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261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The Technology Value Stream</vt:lpstr>
      <vt:lpstr>Lead Time</vt:lpstr>
      <vt:lpstr>Processing Time</vt:lpstr>
      <vt:lpstr>The Common Scenario</vt:lpstr>
      <vt:lpstr>The Common Scenario, cont.</vt:lpstr>
      <vt:lpstr>Our DevOps Ideal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Aidan Jacoby</dc:creator>
  <cp:lastModifiedBy>Aidan Jacoby</cp:lastModifiedBy>
  <cp:revision>1</cp:revision>
  <dcterms:created xsi:type="dcterms:W3CDTF">2026-06-07T17:02:22Z</dcterms:created>
  <dcterms:modified xsi:type="dcterms:W3CDTF">2026-06-07T17:09:05Z</dcterms:modified>
</cp:coreProperties>
</file>